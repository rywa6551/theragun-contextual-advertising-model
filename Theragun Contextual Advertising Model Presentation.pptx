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2F88D7-C824-47F1-8338-EB8A23308C0F}">
  <a:tblStyle styleId="{FC2F88D7-C824-47F1-8338-EB8A23308C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.fntdata"/><Relationship Id="rId10" Type="http://schemas.openxmlformats.org/officeDocument/2006/relationships/slide" Target="slides/slide4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regular.fntdata"/><Relationship Id="rId14" Type="http://schemas.openxmlformats.org/officeDocument/2006/relationships/slide" Target="slides/slide8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avenPr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 everyone. My name is Ryan, and today I’m presenting a project I did for Chrishare, a media buying company working with Theragun — a wellness brand.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 was to identify health and wellness news content for better contextual ad targeting using machine learning.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59e5a2883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659e5a2883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Theragun wanted their ads shown on articles that align with their brand — specifically, health and wellness content.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problem? There are over 200,000 news headlines from HuffPost across 40+ categories.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Manually identifying the right articles is impractical.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needed an automated way to predict whether a news article is wellness-related.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59e5a2883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659e5a2883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tackle this, I used a BERT-based deep learning model through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ktrain</a:t>
            </a:r>
            <a:r>
              <a:rPr lang="en">
                <a:solidFill>
                  <a:schemeClr val="dk1"/>
                </a:solidFill>
              </a:rPr>
              <a:t> library.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BERT is great at understanding context in short text, like headlines.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framed the task as a </a:t>
            </a:r>
            <a:r>
              <a:rPr b="1" lang="en">
                <a:solidFill>
                  <a:schemeClr val="dk1"/>
                </a:solidFill>
              </a:rPr>
              <a:t>binary classification</a:t>
            </a:r>
            <a:r>
              <a:rPr lang="en">
                <a:solidFill>
                  <a:schemeClr val="dk1"/>
                </a:solidFill>
              </a:rPr>
              <a:t> problem: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Is this article about wellness — yes or no?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59e5a2883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59e5a2883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preprocessing, I used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ktrain</a:t>
            </a:r>
            <a:r>
              <a:rPr lang="en">
                <a:solidFill>
                  <a:schemeClr val="dk1"/>
                </a:solidFill>
              </a:rPr>
              <a:t>'s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texts_from_array</a:t>
            </a:r>
            <a:r>
              <a:rPr lang="en">
                <a:solidFill>
                  <a:schemeClr val="dk1"/>
                </a:solidFill>
              </a:rPr>
              <a:t> with BERT mode, which handles tokenization and truncation.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speed up training and avoid timeouts in Colab, I used only 20% of the full dataset and limited input to 30 tokens.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trained for one epoch with a learning rate of 2e-5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fit_onecycle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Since wellness was the minority class, I paid attention to </a:t>
            </a:r>
            <a:r>
              <a:rPr b="1" lang="en">
                <a:solidFill>
                  <a:schemeClr val="dk1"/>
                </a:solidFill>
              </a:rPr>
              <a:t>recall</a:t>
            </a:r>
            <a:r>
              <a:rPr lang="en">
                <a:solidFill>
                  <a:schemeClr val="dk1"/>
                </a:solidFill>
              </a:rPr>
              <a:t> — how well the model catches true positives.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59e5a2883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59e5a2883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After training, I evaluated the model. It achieved 90% overall accuracy.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more importantly, it correctly identified 66% of the actual wellness-related headlines.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a big improvement compared to a naive model, which would miss most wellness content due to class imbalance.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Here's a confusion matrix: most wellness articles were correctly flagged, though a few were still missed.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59e5a2883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59e5a2883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Here’s a real example: I fed the model a headline 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'5 ways to boost your energy without coffee.'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model returned a 70% probability that it’s about wellness.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shows it's picking up contextual signals even in subtle language.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59e5a2883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659e5a2883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forward, I’d recommend training on the full dataset for better performance.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could also balance the classes or apply data augmentation to improve recall.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can tune the probability threshold to prioritize catching more wellness articles — even at the cost of a few false positives.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59e5a2883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59e5a2883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summary, I built a deep learning pipeline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ktrain</a:t>
            </a:r>
            <a:r>
              <a:rPr lang="en">
                <a:solidFill>
                  <a:schemeClr val="dk1"/>
                </a:solidFill>
              </a:rPr>
              <a:t> and BERT to help Theragun serve their ads on relevant articles.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just 20% of the data, the model already shows strong performance.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approach is scalable, accurate, and ready to be integrated into a media buying strategy.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Thanks for listening!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News Classification for Theragun using Deep Learning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Chrishare Media Buying | Ryan W | June 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Goal: Help Theragun find health &amp; wellness-related news headlines to advertise 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it matters: Targeting the right context improves click-through and conversions.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Challenge: 200k+ headlines, 40+ categories — need a model to flag relevant ones automatically.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Library: ktrain with BERT transformer (via Huggingface)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BERT: Understands language context — ideal for short texts like headlines.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Prediction Task: Binary classification — Wellness-related vs. Not.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+ Tuning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335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b="1" lang="en" sz="5339">
                <a:solidFill>
                  <a:srgbClr val="000000"/>
                </a:solidFill>
              </a:rPr>
              <a:t>Preprocessing</a:t>
            </a:r>
            <a:r>
              <a:rPr lang="en" sz="5339">
                <a:solidFill>
                  <a:srgbClr val="000000"/>
                </a:solidFill>
              </a:rPr>
              <a:t>:</a:t>
            </a:r>
            <a:br>
              <a:rPr lang="en" sz="5339">
                <a:solidFill>
                  <a:srgbClr val="000000"/>
                </a:solidFill>
              </a:rPr>
            </a:br>
            <a:endParaRPr sz="5339">
              <a:solidFill>
                <a:srgbClr val="000000"/>
              </a:solidFill>
            </a:endParaRPr>
          </a:p>
          <a:p>
            <a:pPr indent="-31335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5339">
                <a:solidFill>
                  <a:srgbClr val="000000"/>
                </a:solidFill>
              </a:rPr>
              <a:t>Used </a:t>
            </a:r>
            <a:r>
              <a:rPr lang="en" sz="5339">
                <a:solidFill>
                  <a:srgbClr val="188038"/>
                </a:solidFill>
              </a:rPr>
              <a:t>texts_from_array()</a:t>
            </a:r>
            <a:r>
              <a:rPr lang="en" sz="5339">
                <a:solidFill>
                  <a:srgbClr val="000000"/>
                </a:solidFill>
              </a:rPr>
              <a:t> with </a:t>
            </a:r>
            <a:r>
              <a:rPr lang="en" sz="5339">
                <a:solidFill>
                  <a:srgbClr val="188038"/>
                </a:solidFill>
              </a:rPr>
              <a:t>preprocess_mode='bert'</a:t>
            </a:r>
            <a:br>
              <a:rPr lang="en" sz="5339">
                <a:solidFill>
                  <a:srgbClr val="188038"/>
                </a:solidFill>
              </a:rPr>
            </a:br>
            <a:endParaRPr sz="5339">
              <a:solidFill>
                <a:srgbClr val="188038"/>
              </a:solidFill>
            </a:endParaRPr>
          </a:p>
          <a:p>
            <a:pPr indent="-31335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5339">
                <a:solidFill>
                  <a:srgbClr val="000000"/>
                </a:solidFill>
              </a:rPr>
              <a:t>Tokenized and truncated headlines to 30 tokens for speed</a:t>
            </a:r>
            <a:br>
              <a:rPr lang="en" sz="5339">
                <a:solidFill>
                  <a:srgbClr val="000000"/>
                </a:solidFill>
              </a:rPr>
            </a:br>
            <a:endParaRPr sz="5339">
              <a:solidFill>
                <a:srgbClr val="000000"/>
              </a:solidFill>
            </a:endParaRPr>
          </a:p>
          <a:p>
            <a:pPr indent="-313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b="1" lang="en" sz="5339">
                <a:solidFill>
                  <a:srgbClr val="000000"/>
                </a:solidFill>
              </a:rPr>
              <a:t>Tuning</a:t>
            </a:r>
            <a:r>
              <a:rPr lang="en" sz="5339">
                <a:solidFill>
                  <a:srgbClr val="000000"/>
                </a:solidFill>
              </a:rPr>
              <a:t>:</a:t>
            </a:r>
            <a:br>
              <a:rPr lang="en" sz="5339">
                <a:solidFill>
                  <a:srgbClr val="000000"/>
                </a:solidFill>
              </a:rPr>
            </a:br>
            <a:endParaRPr sz="5339">
              <a:solidFill>
                <a:srgbClr val="000000"/>
              </a:solidFill>
            </a:endParaRPr>
          </a:p>
          <a:p>
            <a:pPr indent="-31335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○"/>
            </a:pPr>
            <a:r>
              <a:rPr lang="en" sz="5339">
                <a:solidFill>
                  <a:srgbClr val="000000"/>
                </a:solidFill>
              </a:rPr>
              <a:t>Sampled 20% of data for quick iteration</a:t>
            </a:r>
            <a:br>
              <a:rPr lang="en" sz="5339">
                <a:solidFill>
                  <a:srgbClr val="000000"/>
                </a:solidFill>
              </a:rPr>
            </a:br>
            <a:endParaRPr sz="5339">
              <a:solidFill>
                <a:srgbClr val="000000"/>
              </a:solidFill>
            </a:endParaRPr>
          </a:p>
          <a:p>
            <a:pPr indent="-31335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5339">
                <a:solidFill>
                  <a:srgbClr val="000000"/>
                </a:solidFill>
              </a:rPr>
              <a:t>Learning rate: </a:t>
            </a:r>
            <a:r>
              <a:rPr lang="en" sz="5339">
                <a:solidFill>
                  <a:srgbClr val="188038"/>
                </a:solidFill>
              </a:rPr>
              <a:t>2e-5</a:t>
            </a:r>
            <a:r>
              <a:rPr lang="en" sz="5339">
                <a:solidFill>
                  <a:srgbClr val="000000"/>
                </a:solidFill>
              </a:rPr>
              <a:t>, Epochs: </a:t>
            </a:r>
            <a:r>
              <a:rPr lang="en" sz="5339">
                <a:solidFill>
                  <a:srgbClr val="188038"/>
                </a:solidFill>
              </a:rPr>
              <a:t>1</a:t>
            </a:r>
            <a:br>
              <a:rPr lang="en" sz="5339">
                <a:solidFill>
                  <a:srgbClr val="188038"/>
                </a:solidFill>
              </a:rPr>
            </a:br>
            <a:endParaRPr sz="5339">
              <a:solidFill>
                <a:srgbClr val="188038"/>
              </a:solidFill>
            </a:endParaRPr>
          </a:p>
          <a:p>
            <a:pPr indent="-31335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○"/>
            </a:pPr>
            <a:r>
              <a:rPr lang="en" sz="5339">
                <a:solidFill>
                  <a:srgbClr val="000000"/>
                </a:solidFill>
              </a:rPr>
              <a:t>Focused on recall for minority class</a:t>
            </a:r>
            <a:br>
              <a:rPr lang="en" sz="5339">
                <a:solidFill>
                  <a:srgbClr val="000000"/>
                </a:solidFill>
              </a:rPr>
            </a:br>
            <a:endParaRPr sz="533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Results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17">
                <a:solidFill>
                  <a:srgbClr val="000000"/>
                </a:solidFill>
              </a:rPr>
              <a:t>Final Accuracy: 90%</a:t>
            </a:r>
            <a:br>
              <a:rPr lang="en" sz="1317">
                <a:solidFill>
                  <a:srgbClr val="000000"/>
                </a:solidFill>
              </a:rPr>
            </a:br>
            <a:endParaRPr sz="13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17">
                <a:solidFill>
                  <a:srgbClr val="000000"/>
                </a:solidFill>
              </a:rPr>
              <a:t>Class 1 (Wellness) Precision: 0.60</a:t>
            </a:r>
            <a:br>
              <a:rPr lang="en" sz="1317">
                <a:solidFill>
                  <a:srgbClr val="000000"/>
                </a:solidFill>
              </a:rPr>
            </a:br>
            <a:endParaRPr sz="13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17">
                <a:solidFill>
                  <a:srgbClr val="000000"/>
                </a:solidFill>
              </a:rPr>
              <a:t>Recall (Wellness): 0.66</a:t>
            </a:r>
            <a:br>
              <a:rPr lang="en" sz="1317">
                <a:solidFill>
                  <a:srgbClr val="000000"/>
                </a:solidFill>
              </a:rPr>
            </a:br>
            <a:endParaRPr sz="13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17">
                <a:solidFill>
                  <a:srgbClr val="000000"/>
                </a:solidFill>
              </a:rPr>
              <a:t>Confusion Matrix: </a:t>
            </a:r>
            <a:endParaRPr sz="1317">
              <a:solidFill>
                <a:srgbClr val="000000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18"/>
              <a:buChar char="●"/>
            </a:pPr>
            <a:r>
              <a:rPr lang="en" sz="1317">
                <a:solidFill>
                  <a:srgbClr val="000000"/>
                </a:solidFill>
              </a:rPr>
              <a:t>Model still misses some positive cases, but much better than random guessing.</a:t>
            </a:r>
            <a:endParaRPr sz="13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2"/>
          </a:p>
        </p:txBody>
      </p:sp>
      <p:graphicFrame>
        <p:nvGraphicFramePr>
          <p:cNvPr id="303" name="Google Shape;303;p17"/>
          <p:cNvGraphicFramePr/>
          <p:nvPr/>
        </p:nvGraphicFramePr>
        <p:xfrm>
          <a:off x="1890150" y="430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{FC2F88D7-C824-47F1-8338-EB8A23308C0F}</a:tableStyleId>
              </a:tblPr>
              <a:tblGrid>
                <a:gridCol w="382850"/>
                <a:gridCol w="382850"/>
              </a:tblGrid>
              <a:tr h="38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658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45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5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34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67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Example</a:t>
            </a:r>
            <a:endParaRPr/>
          </a:p>
        </p:txBody>
      </p:sp>
      <p:sp>
        <p:nvSpPr>
          <p:cNvPr id="309" name="Google Shape;309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Input: "5 ways to boost your energy without coffee"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Prediction: 70% chance it's about wellness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Output: array([[0.29979125, 0.7002088]])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</a:t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Train on full dataset for better generalization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Explore class balancing or data augmentation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Fine-tune threshold for higher recall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21" name="Google Shape;321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Built a transformer-based classifier using ktrain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Tuned model for real-time contextual ad targeting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Validated model with metrics focused on recall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Ready to integrate into a media-buying pipeline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